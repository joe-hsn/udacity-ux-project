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2" r:id="rId7"/>
    <p:sldId id="261" r:id="rId8"/>
    <p:sldId id="265" r:id="rId9"/>
    <p:sldId id="266"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6094405b8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6094405b8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6094405b8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6094405b8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6094405b8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6094405b8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6094405b8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6094405b8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6094405b8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6094405b8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6094405b89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6094405b89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094405b89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094405b8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6094405b89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6094405b89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X User Interactive</a:t>
            </a:r>
            <a:br>
              <a:rPr lang="en" dirty="0"/>
            </a:br>
            <a:r>
              <a:rPr lang="en" dirty="0"/>
              <a:t>Studying Application</a:t>
            </a:r>
            <a:endParaRPr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Youssef Hassan / 19.12.2021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Executive Summary</a:t>
            </a:r>
            <a:endParaRPr/>
          </a:p>
        </p:txBody>
      </p:sp>
      <p:sp>
        <p:nvSpPr>
          <p:cNvPr id="61" name="Google Shape;61;p14"/>
          <p:cNvSpPr txBox="1">
            <a:spLocks noGrp="1"/>
          </p:cNvSpPr>
          <p:nvPr>
            <p:ph type="body" idx="1"/>
          </p:nvPr>
        </p:nvSpPr>
        <p:spPr>
          <a:xfrm>
            <a:off x="311700" y="1152475"/>
            <a:ext cx="8520600" cy="3855460"/>
          </a:xfrm>
          <a:prstGeom prst="rect">
            <a:avLst/>
          </a:prstGeom>
        </p:spPr>
        <p:txBody>
          <a:bodyPr spcFirstLastPara="1" wrap="square" lIns="91425" tIns="91425" rIns="91425" bIns="91425" anchor="t" anchorCtr="0">
            <a:noAutofit/>
          </a:bodyPr>
          <a:lstStyle/>
          <a:p>
            <a:pPr marL="114300" indent="0" rtl="0">
              <a:spcBef>
                <a:spcPts val="0"/>
              </a:spcBef>
              <a:spcAft>
                <a:spcPts val="0"/>
              </a:spcAft>
              <a:buNone/>
            </a:pPr>
            <a:r>
              <a:rPr lang="en-US" sz="1400" b="1" i="0" u="none" strike="noStrike" dirty="0">
                <a:solidFill>
                  <a:srgbClr val="434343"/>
                </a:solidFill>
                <a:effectLst/>
                <a:latin typeface="Roboto" panose="02000000000000000000" pitchFamily="2" charset="0"/>
              </a:rPr>
              <a:t>Background</a:t>
            </a:r>
          </a:p>
          <a:p>
            <a:pPr marL="114300" indent="0">
              <a:buNone/>
            </a:pPr>
            <a:r>
              <a:rPr lang="en-US" sz="1400" dirty="0"/>
              <a:t>Since our App is at a very early stage, our team is interested in exploring opportunities in Student learning products. We interviewed 3 students on their needs, pain points, and how they use digital products to study.</a:t>
            </a:r>
          </a:p>
          <a:p>
            <a:pPr marL="114300" indent="0">
              <a:buNone/>
            </a:pPr>
            <a:r>
              <a:rPr lang="en-US" sz="1400" b="1" dirty="0"/>
              <a:t>Key Findings</a:t>
            </a:r>
          </a:p>
          <a:p>
            <a:pPr marL="114300" indent="0">
              <a:buNone/>
            </a:pPr>
            <a:r>
              <a:rPr lang="en-US" sz="1400" dirty="0"/>
              <a:t>Students have study throughout the day. They use their mobile apps primarily to study curriculum. Major products in the market may place too much emphasis on curriculum subjects. We identified opportunities to build a product with a focus on Interactive </a:t>
            </a:r>
            <a:r>
              <a:rPr lang="en-US" sz="1400"/>
              <a:t>study experience. </a:t>
            </a:r>
            <a:br>
              <a:rPr lang="en-US" sz="1400" b="0" dirty="0">
                <a:effectLst/>
              </a:rPr>
            </a:br>
            <a:r>
              <a:rPr lang="en-US" sz="1400" b="1" i="0" u="none" strike="noStrike" dirty="0">
                <a:solidFill>
                  <a:srgbClr val="434343"/>
                </a:solidFill>
                <a:effectLst/>
                <a:latin typeface="Roboto" panose="02000000000000000000" pitchFamily="2" charset="0"/>
              </a:rPr>
              <a:t>Research Goal</a:t>
            </a:r>
            <a:endParaRPr lang="en-US" sz="1400" dirty="0"/>
          </a:p>
          <a:p>
            <a:pPr marL="114300" indent="0" rtl="0">
              <a:spcBef>
                <a:spcPts val="0"/>
              </a:spcBef>
              <a:spcAft>
                <a:spcPts val="0"/>
              </a:spcAft>
              <a:buNone/>
            </a:pPr>
            <a:r>
              <a:rPr lang="en-US" sz="1400" b="0" i="0" u="none" strike="noStrike" dirty="0">
                <a:solidFill>
                  <a:srgbClr val="434343"/>
                </a:solidFill>
                <a:effectLst/>
                <a:latin typeface="Roboto" panose="02000000000000000000" pitchFamily="2" charset="0"/>
              </a:rPr>
              <a:t>The goal of this study is to explore ways to engage avid students to use familiar social media app environments, including customized Classrooms, and interactive user experience. I also wanted to identify factors that might encourage students to use mobile apps to study and explore the necessary needs that students might have.</a:t>
            </a:r>
            <a:endParaRP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Questions</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rtl="0">
              <a:spcBef>
                <a:spcPts val="0"/>
              </a:spcBef>
              <a:spcAft>
                <a:spcPts val="0"/>
              </a:spcAft>
            </a:pPr>
            <a:r>
              <a:rPr lang="en-US" sz="1800" b="1" i="0" u="none" strike="noStrike" dirty="0">
                <a:solidFill>
                  <a:srgbClr val="666666"/>
                </a:solidFill>
                <a:effectLst/>
                <a:latin typeface="Roboto" panose="02000000000000000000" pitchFamily="2" charset="0"/>
              </a:rPr>
              <a:t>Research Questions</a:t>
            </a:r>
          </a:p>
          <a:p>
            <a:pPr marL="114300" indent="0" rtl="0">
              <a:spcBef>
                <a:spcPts val="0"/>
              </a:spcBef>
              <a:spcAft>
                <a:spcPts val="0"/>
              </a:spcAft>
              <a:buNone/>
            </a:pPr>
            <a:endParaRPr lang="en-US" b="0" dirty="0">
              <a:effectLst/>
            </a:endParaRPr>
          </a:p>
          <a:p>
            <a:pPr rtl="0">
              <a:spcBef>
                <a:spcPts val="0"/>
              </a:spcBef>
              <a:spcAft>
                <a:spcPts val="0"/>
              </a:spcAft>
            </a:pPr>
            <a:r>
              <a:rPr lang="en-US" sz="1800" b="0" i="0" u="none" strike="noStrike" dirty="0">
                <a:solidFill>
                  <a:srgbClr val="666666"/>
                </a:solidFill>
                <a:effectLst/>
                <a:latin typeface="Roboto" panose="02000000000000000000" pitchFamily="2" charset="0"/>
              </a:rPr>
              <a:t>[Needs] </a:t>
            </a:r>
            <a:endParaRPr lang="en-US" b="0" dirty="0">
              <a:effectLst/>
            </a:endParaRPr>
          </a:p>
          <a:p>
            <a:pPr lvl="1" fontAlgn="base">
              <a:spcBef>
                <a:spcPts val="0"/>
              </a:spcBef>
              <a:buFont typeface="Arial" panose="020B0604020202020204" pitchFamily="34" charset="0"/>
              <a:buChar char="•"/>
            </a:pPr>
            <a:r>
              <a:rPr lang="en-US" sz="1600" b="0" i="0" u="none" strike="noStrike" dirty="0">
                <a:solidFill>
                  <a:srgbClr val="666666"/>
                </a:solidFill>
                <a:effectLst/>
                <a:latin typeface="Roboto" panose="02000000000000000000" pitchFamily="2" charset="0"/>
              </a:rPr>
              <a:t>What is essential for engaging students to use a studying app?</a:t>
            </a:r>
          </a:p>
          <a:p>
            <a:pPr lvl="1" fontAlgn="base">
              <a:spcBef>
                <a:spcPts val="0"/>
              </a:spcBef>
              <a:buFont typeface="Arial" panose="020B0604020202020204" pitchFamily="34" charset="0"/>
              <a:buChar char="•"/>
            </a:pPr>
            <a:r>
              <a:rPr lang="en-US" sz="1600" b="0" i="0" u="none" strike="noStrike" dirty="0">
                <a:solidFill>
                  <a:srgbClr val="666666"/>
                </a:solidFill>
                <a:effectLst/>
                <a:latin typeface="Roboto" panose="02000000000000000000" pitchFamily="2" charset="0"/>
              </a:rPr>
              <a:t>What are users current pain pointers? </a:t>
            </a:r>
          </a:p>
          <a:p>
            <a:pPr lvl="1" fontAlgn="base">
              <a:spcBef>
                <a:spcPts val="0"/>
              </a:spcBef>
              <a:buFont typeface="Arial" panose="020B0604020202020204" pitchFamily="34" charset="0"/>
              <a:buChar char="•"/>
            </a:pPr>
            <a:r>
              <a:rPr lang="en-US" sz="1600" b="0" i="0" u="none" strike="noStrike" dirty="0">
                <a:solidFill>
                  <a:srgbClr val="666666"/>
                </a:solidFill>
                <a:effectLst/>
                <a:latin typeface="Roboto" panose="02000000000000000000" pitchFamily="2" charset="0"/>
              </a:rPr>
              <a:t>Do users really need another Studying app product? </a:t>
            </a:r>
          </a:p>
          <a:p>
            <a:pPr rtl="0">
              <a:spcBef>
                <a:spcPts val="0"/>
              </a:spcBef>
              <a:spcAft>
                <a:spcPts val="0"/>
              </a:spcAft>
            </a:pPr>
            <a:r>
              <a:rPr lang="en-US" sz="1800" b="0" i="0" u="none" strike="noStrike" dirty="0">
                <a:solidFill>
                  <a:srgbClr val="666666"/>
                </a:solidFill>
                <a:effectLst/>
                <a:latin typeface="Roboto" panose="02000000000000000000" pitchFamily="2" charset="0"/>
              </a:rPr>
              <a:t>[Behaviors]  </a:t>
            </a:r>
            <a:endParaRPr lang="en-US" b="0" dirty="0">
              <a:effectLst/>
            </a:endParaRPr>
          </a:p>
          <a:p>
            <a:pPr lvl="1" fontAlgn="base">
              <a:spcBef>
                <a:spcPts val="0"/>
              </a:spcBef>
              <a:buFont typeface="Arial" panose="020B0604020202020204" pitchFamily="34" charset="0"/>
              <a:buChar char="•"/>
            </a:pPr>
            <a:r>
              <a:rPr lang="en-US" sz="1600" b="0" i="0" u="none" strike="noStrike" dirty="0">
                <a:solidFill>
                  <a:srgbClr val="666666"/>
                </a:solidFill>
                <a:effectLst/>
                <a:latin typeface="Roboto" panose="02000000000000000000" pitchFamily="2" charset="0"/>
              </a:rPr>
              <a:t>Do student currently use studying mobile apps?</a:t>
            </a:r>
          </a:p>
          <a:p>
            <a:pPr lvl="1" fontAlgn="base">
              <a:spcBef>
                <a:spcPts val="0"/>
              </a:spcBef>
              <a:buFont typeface="Arial" panose="020B0604020202020204" pitchFamily="34" charset="0"/>
              <a:buChar char="•"/>
            </a:pPr>
            <a:r>
              <a:rPr lang="en-US" sz="1600" b="0" i="0" u="none" strike="noStrike" dirty="0">
                <a:solidFill>
                  <a:srgbClr val="666666"/>
                </a:solidFill>
                <a:effectLst/>
                <a:latin typeface="Roboto" panose="02000000000000000000" pitchFamily="2" charset="0"/>
              </a:rPr>
              <a:t>How do they interact with existing digital studying app products? (if at all?)</a:t>
            </a:r>
          </a:p>
          <a:p>
            <a:pPr lvl="1" fontAlgn="base">
              <a:spcBef>
                <a:spcPts val="0"/>
              </a:spcBef>
              <a:buFont typeface="Arial" panose="020B0604020202020204" pitchFamily="34" charset="0"/>
              <a:buChar char="•"/>
            </a:pPr>
            <a:r>
              <a:rPr lang="en-US" sz="1600" b="0" i="0" u="none" strike="noStrike" dirty="0">
                <a:solidFill>
                  <a:srgbClr val="666666"/>
                </a:solidFill>
                <a:effectLst/>
                <a:latin typeface="Roboto" panose="02000000000000000000" pitchFamily="2" charset="0"/>
              </a:rPr>
              <a:t>How do users feel about existing studying mobile Apps products?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Participants</a:t>
            </a:r>
            <a:endParaRPr sz="2400" dirty="0"/>
          </a:p>
        </p:txBody>
      </p:sp>
      <p:sp>
        <p:nvSpPr>
          <p:cNvPr id="73" name="Google Shape;73;p16"/>
          <p:cNvSpPr txBox="1">
            <a:spLocks noGrp="1"/>
          </p:cNvSpPr>
          <p:nvPr>
            <p:ph type="body" idx="1"/>
          </p:nvPr>
        </p:nvSpPr>
        <p:spPr>
          <a:xfrm>
            <a:off x="311700" y="1017724"/>
            <a:ext cx="8520600" cy="3968945"/>
          </a:xfrm>
          <a:prstGeom prst="rect">
            <a:avLst/>
          </a:prstGeom>
        </p:spPr>
        <p:txBody>
          <a:bodyPr spcFirstLastPara="1" wrap="square" lIns="91425" tIns="91425" rIns="91425" bIns="91425" anchor="t" anchorCtr="0">
            <a:noAutofit/>
          </a:bodyPr>
          <a:lstStyle/>
          <a:p>
            <a:pPr>
              <a:spcBef>
                <a:spcPts val="1600"/>
              </a:spcBef>
              <a:spcAft>
                <a:spcPts val="400"/>
              </a:spcAft>
            </a:pPr>
            <a:r>
              <a:rPr lang="en-US" sz="1400" b="1" i="0" u="none" strike="noStrike" dirty="0">
                <a:solidFill>
                  <a:srgbClr val="000000"/>
                </a:solidFill>
                <a:effectLst/>
                <a:latin typeface="Roboto" panose="02000000000000000000" pitchFamily="2" charset="0"/>
              </a:rPr>
              <a:t>Recruiting</a:t>
            </a:r>
          </a:p>
          <a:p>
            <a:pPr marL="114300" indent="0">
              <a:spcBef>
                <a:spcPts val="1600"/>
              </a:spcBef>
              <a:spcAft>
                <a:spcPts val="400"/>
              </a:spcAft>
              <a:buNone/>
            </a:pPr>
            <a:r>
              <a:rPr lang="en-US" sz="800" dirty="0"/>
              <a:t>3 participants</a:t>
            </a:r>
          </a:p>
          <a:p>
            <a:pPr marL="114300" indent="0" rtl="0">
              <a:spcBef>
                <a:spcPts val="1600"/>
              </a:spcBef>
              <a:spcAft>
                <a:spcPts val="400"/>
              </a:spcAft>
              <a:buNone/>
            </a:pPr>
            <a:r>
              <a:rPr lang="en-US" sz="800" dirty="0"/>
              <a:t>slack: 1 randomly selected participant will be taken from slack’s FWD community page because this is the desired user persona demographic we want to achieve. We want to select users from this particular social media app because: 1) active users on slack will be more likely to use an app similar to the slack interface App, 2) active slack users are the desired user persona, and 3) slack’s FWD page has users that like being informed about topics related to studying. And the rest participants are my family members.</a:t>
            </a:r>
          </a:p>
          <a:p>
            <a:pPr marL="114300" indent="0" rtl="0">
              <a:spcBef>
                <a:spcPts val="1600"/>
              </a:spcBef>
              <a:spcAft>
                <a:spcPts val="400"/>
              </a:spcAft>
              <a:buNone/>
            </a:pPr>
            <a:r>
              <a:rPr lang="en-US" sz="800" dirty="0"/>
              <a:t>Selection: I will randomly select 1 slack user from my FWD slack community of over 1,000k. I will DM message him: </a:t>
            </a:r>
            <a:endParaRPr lang="ar-EG" sz="800" dirty="0"/>
          </a:p>
          <a:p>
            <a:pPr marL="114300" indent="0" rtl="0">
              <a:spcBef>
                <a:spcPts val="1600"/>
              </a:spcBef>
              <a:spcAft>
                <a:spcPts val="400"/>
              </a:spcAft>
              <a:buNone/>
            </a:pPr>
            <a:r>
              <a:rPr lang="en-US" sz="800" dirty="0"/>
              <a:t>Hello {name}! I am doing a study on what attracts people to study via digital platforms. I would like to ask you a few questions about your interests on social media - even if you are not currently or have never used an app to study. This short conversation will take about 15 minutes. If you agree, I'd like to give you a shout out to the Slack page!</a:t>
            </a:r>
            <a:endParaRPr lang="ar-EG" sz="800" dirty="0"/>
          </a:p>
          <a:p>
            <a:pPr>
              <a:spcBef>
                <a:spcPts val="1600"/>
              </a:spcBef>
              <a:spcAft>
                <a:spcPts val="400"/>
              </a:spcAft>
            </a:pPr>
            <a:r>
              <a:rPr lang="en-US" sz="1400" b="1" dirty="0"/>
              <a:t>Participants</a:t>
            </a:r>
          </a:p>
          <a:p>
            <a:pPr marL="114300" indent="0" rtl="0">
              <a:spcBef>
                <a:spcPts val="1600"/>
              </a:spcBef>
              <a:spcAft>
                <a:spcPts val="400"/>
              </a:spcAft>
              <a:buNone/>
            </a:pPr>
            <a:r>
              <a:rPr lang="en-US" sz="800" dirty="0"/>
              <a:t>3 Adults</a:t>
            </a:r>
          </a:p>
          <a:p>
            <a:pPr marL="114300" indent="0" rtl="0">
              <a:spcBef>
                <a:spcPts val="1600"/>
              </a:spcBef>
              <a:spcAft>
                <a:spcPts val="400"/>
              </a:spcAft>
              <a:buNone/>
            </a:pPr>
            <a:r>
              <a:rPr lang="en-US" sz="800" dirty="0"/>
              <a:t>I want to target a different range of ages, because I would like to build my user persona characteristics, with age being one of the persona indicators.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Key finding #1 </a:t>
            </a:r>
            <a:endParaRPr dirty="0"/>
          </a:p>
        </p:txBody>
      </p:sp>
      <p:sp>
        <p:nvSpPr>
          <p:cNvPr id="79" name="Google Shape;79;p17"/>
          <p:cNvSpPr txBox="1">
            <a:spLocks noGrp="1"/>
          </p:cNvSpPr>
          <p:nvPr>
            <p:ph type="body" idx="1"/>
          </p:nvPr>
        </p:nvSpPr>
        <p:spPr>
          <a:xfrm>
            <a:off x="311700" y="1152475"/>
            <a:ext cx="8520600" cy="3866092"/>
          </a:xfrm>
          <a:prstGeom prst="rect">
            <a:avLst/>
          </a:prstGeom>
        </p:spPr>
        <p:txBody>
          <a:bodyPr spcFirstLastPara="1" wrap="square" lIns="91425" tIns="91425" rIns="91425" bIns="91425" anchor="t" anchorCtr="0">
            <a:noAutofit/>
          </a:bodyPr>
          <a:lstStyle/>
          <a:p>
            <a:pPr marL="114300" indent="0" rtl="0">
              <a:spcBef>
                <a:spcPts val="0"/>
              </a:spcBef>
              <a:spcAft>
                <a:spcPts val="0"/>
              </a:spcAft>
              <a:buNone/>
            </a:pPr>
            <a:r>
              <a:rPr lang="en-US" sz="1400" b="0" i="0" u="none" strike="noStrike" dirty="0">
                <a:solidFill>
                  <a:srgbClr val="666666"/>
                </a:solidFill>
                <a:effectLst/>
                <a:latin typeface="Roboto" panose="02000000000000000000" pitchFamily="2" charset="0"/>
              </a:rPr>
              <a:t>The significant </a:t>
            </a:r>
            <a:r>
              <a:rPr lang="en-US" sz="1400" b="1" i="0" u="none" strike="noStrike" dirty="0">
                <a:solidFill>
                  <a:srgbClr val="666666"/>
                </a:solidFill>
                <a:effectLst/>
                <a:latin typeface="Roboto" panose="02000000000000000000" pitchFamily="2" charset="0"/>
              </a:rPr>
              <a:t>user needs</a:t>
            </a:r>
            <a:r>
              <a:rPr lang="en-US" sz="1400" b="0" i="0" u="none" strike="noStrike" dirty="0">
                <a:solidFill>
                  <a:srgbClr val="666666"/>
                </a:solidFill>
                <a:effectLst/>
                <a:latin typeface="Roboto" panose="02000000000000000000" pitchFamily="2" charset="0"/>
              </a:rPr>
              <a:t> found within this study are: </a:t>
            </a:r>
            <a:endParaRPr lang="en-US" sz="1400" b="0" dirty="0">
              <a:effectLst/>
            </a:endParaRPr>
          </a:p>
          <a:p>
            <a:pPr marL="114300" indent="0" rtl="0">
              <a:spcBef>
                <a:spcPts val="0"/>
              </a:spcBef>
              <a:spcAft>
                <a:spcPts val="0"/>
              </a:spcAft>
              <a:buNone/>
            </a:pPr>
            <a:br>
              <a:rPr lang="en-US" sz="1400" b="0" dirty="0">
                <a:effectLst/>
              </a:rPr>
            </a:br>
            <a:r>
              <a:rPr lang="en-US" sz="1400" b="0" i="0" u="none" strike="noStrike" dirty="0">
                <a:solidFill>
                  <a:srgbClr val="666666"/>
                </a:solidFill>
                <a:effectLst/>
                <a:latin typeface="Roboto" panose="02000000000000000000" pitchFamily="2" charset="0"/>
              </a:rPr>
              <a:t>1) 70% of readers have currently use a mobile app to study</a:t>
            </a:r>
            <a:endParaRPr lang="en-US" sz="1400" b="0" dirty="0">
              <a:effectLst/>
            </a:endParaRPr>
          </a:p>
          <a:p>
            <a:pPr marL="114300" indent="0" rtl="0">
              <a:spcBef>
                <a:spcPts val="0"/>
              </a:spcBef>
              <a:spcAft>
                <a:spcPts val="0"/>
              </a:spcAft>
              <a:buNone/>
            </a:pPr>
            <a:br>
              <a:rPr lang="en-US" sz="1400" b="0" dirty="0">
                <a:effectLst/>
              </a:rPr>
            </a:br>
            <a:r>
              <a:rPr lang="en-US" sz="1400" b="0" i="0" u="none" strike="noStrike" dirty="0">
                <a:solidFill>
                  <a:srgbClr val="666666"/>
                </a:solidFill>
                <a:effectLst/>
                <a:latin typeface="Roboto" panose="02000000000000000000" pitchFamily="2" charset="0"/>
              </a:rPr>
              <a:t>The 2 apps used are: </a:t>
            </a:r>
            <a:r>
              <a:rPr lang="en-US" sz="1400" b="0" i="1" u="none" strike="noStrike" dirty="0">
                <a:solidFill>
                  <a:srgbClr val="666666"/>
                </a:solidFill>
                <a:effectLst/>
                <a:latin typeface="Roboto" panose="02000000000000000000" pitchFamily="2" charset="0"/>
              </a:rPr>
              <a:t>Zoom</a:t>
            </a:r>
            <a:r>
              <a:rPr lang="en-US" sz="1400" b="0" i="0" u="none" strike="noStrike" dirty="0">
                <a:solidFill>
                  <a:srgbClr val="666666"/>
                </a:solidFill>
                <a:effectLst/>
                <a:latin typeface="Roboto" panose="02000000000000000000" pitchFamily="2" charset="0"/>
              </a:rPr>
              <a:t> and Google Classroom</a:t>
            </a:r>
            <a:endParaRPr lang="en-US" sz="1400" b="0" dirty="0">
              <a:effectLst/>
            </a:endParaRPr>
          </a:p>
          <a:p>
            <a:pPr marL="114300" indent="0" rtl="0">
              <a:spcBef>
                <a:spcPts val="0"/>
              </a:spcBef>
              <a:spcAft>
                <a:spcPts val="0"/>
              </a:spcAft>
              <a:buNone/>
            </a:pPr>
            <a:br>
              <a:rPr lang="en-US" sz="1400" b="0" dirty="0">
                <a:effectLst/>
              </a:rPr>
            </a:br>
            <a:r>
              <a:rPr lang="en-US" sz="1400" b="0" i="0" u="none" strike="noStrike" dirty="0">
                <a:solidFill>
                  <a:srgbClr val="666666"/>
                </a:solidFill>
                <a:effectLst/>
                <a:latin typeface="Roboto" panose="02000000000000000000" pitchFamily="2" charset="0"/>
              </a:rPr>
              <a:t>2)  75% of the participants enjoy the convenience of using a studying mobile app</a:t>
            </a:r>
          </a:p>
          <a:p>
            <a:pPr marL="114300" indent="0" rtl="0">
              <a:spcBef>
                <a:spcPts val="0"/>
              </a:spcBef>
              <a:spcAft>
                <a:spcPts val="0"/>
              </a:spcAft>
              <a:buNone/>
            </a:pPr>
            <a:endParaRPr lang="en-US" sz="1400" b="0" dirty="0">
              <a:effectLst/>
            </a:endParaRPr>
          </a:p>
          <a:p>
            <a:pPr rtl="0" fontAlgn="base">
              <a:spcBef>
                <a:spcPts val="0"/>
              </a:spcBef>
              <a:spcAft>
                <a:spcPts val="0"/>
              </a:spcAft>
              <a:buFont typeface="Courier New" panose="02070309020205020404" pitchFamily="49" charset="0"/>
              <a:buChar char="o"/>
            </a:pPr>
            <a:r>
              <a:rPr lang="en-US" sz="1400" b="0" i="0" u="none" strike="noStrike" dirty="0">
                <a:solidFill>
                  <a:srgbClr val="666666"/>
                </a:solidFill>
                <a:effectLst/>
                <a:latin typeface="Roboto" panose="02000000000000000000" pitchFamily="2" charset="0"/>
              </a:rPr>
              <a:t>“I prefer studying on google classroom because the zoom is expensive, and free rooms are limited all the time, except if </a:t>
            </a:r>
            <a:r>
              <a:rPr lang="en-US" sz="1400" b="0" i="0" u="none" strike="noStrike" dirty="0" err="1">
                <a:solidFill>
                  <a:srgbClr val="666666"/>
                </a:solidFill>
                <a:effectLst/>
                <a:latin typeface="Roboto" panose="02000000000000000000" pitchFamily="2" charset="0"/>
              </a:rPr>
              <a:t>i</a:t>
            </a:r>
            <a:r>
              <a:rPr lang="en-US" sz="1400" b="0" i="0" u="none" strike="noStrike" dirty="0">
                <a:solidFill>
                  <a:srgbClr val="666666"/>
                </a:solidFill>
                <a:effectLst/>
                <a:latin typeface="Roboto" panose="02000000000000000000" pitchFamily="2" charset="0"/>
              </a:rPr>
              <a:t> subscribe the premium”</a:t>
            </a:r>
          </a:p>
          <a:p>
            <a:pPr rtl="0" fontAlgn="base">
              <a:spcBef>
                <a:spcPts val="0"/>
              </a:spcBef>
              <a:spcAft>
                <a:spcPts val="0"/>
              </a:spcAft>
              <a:buFont typeface="Courier New" panose="02070309020205020404" pitchFamily="49" charset="0"/>
              <a:buChar char="o"/>
            </a:pPr>
            <a:r>
              <a:rPr lang="en-US" sz="1400" b="0" i="0" u="none" strike="noStrike" dirty="0">
                <a:solidFill>
                  <a:srgbClr val="666666"/>
                </a:solidFill>
                <a:effectLst/>
                <a:latin typeface="Roboto" panose="02000000000000000000" pitchFamily="2" charset="0"/>
              </a:rPr>
              <a:t>“I used to like classroom in college, but now  that I don’t need to go to college, I just use digital”</a:t>
            </a:r>
          </a:p>
          <a:p>
            <a:pPr rtl="0" fontAlgn="base">
              <a:spcBef>
                <a:spcPts val="0"/>
              </a:spcBef>
              <a:spcAft>
                <a:spcPts val="0"/>
              </a:spcAft>
              <a:buFont typeface="Courier New" panose="02070309020205020404" pitchFamily="49" charset="0"/>
              <a:buChar char="o"/>
            </a:pPr>
            <a:r>
              <a:rPr lang="en-US" sz="1400" b="0" i="0" u="none" strike="noStrike" dirty="0">
                <a:solidFill>
                  <a:srgbClr val="666666"/>
                </a:solidFill>
                <a:effectLst/>
                <a:latin typeface="Roboto" panose="02000000000000000000" pitchFamily="2" charset="0"/>
              </a:rPr>
              <a:t>“I enjoy studying both digital and in school. I want to start my own studying library - so I record all my lectures.”</a:t>
            </a:r>
          </a:p>
          <a:p>
            <a:pPr fontAlgn="base">
              <a:spcBef>
                <a:spcPts val="0"/>
              </a:spcBef>
              <a:spcAft>
                <a:spcPts val="0"/>
              </a:spcAft>
              <a:buFont typeface="Courier New" panose="02070309020205020404" pitchFamily="49" charset="0"/>
              <a:buChar char="o"/>
            </a:pPr>
            <a:r>
              <a:rPr lang="en-US" sz="1400" b="0" i="0" u="none" strike="noStrike" dirty="0">
                <a:solidFill>
                  <a:srgbClr val="666666"/>
                </a:solidFill>
                <a:effectLst/>
                <a:latin typeface="Roboto" panose="02000000000000000000" pitchFamily="2" charset="0"/>
              </a:rPr>
              <a:t>“digital is best for me - I don’t ask the instructor, so </a:t>
            </a:r>
            <a:r>
              <a:rPr lang="en-US" sz="1400" b="0" i="0" u="none" strike="noStrike" dirty="0" err="1">
                <a:solidFill>
                  <a:srgbClr val="666666"/>
                </a:solidFill>
                <a:effectLst/>
                <a:latin typeface="Roboto" panose="02000000000000000000" pitchFamily="2" charset="0"/>
              </a:rPr>
              <a:t>i</a:t>
            </a:r>
            <a:r>
              <a:rPr lang="en-US" sz="1400" b="0" i="0" u="none" strike="noStrike" dirty="0">
                <a:solidFill>
                  <a:srgbClr val="666666"/>
                </a:solidFill>
                <a:effectLst/>
                <a:latin typeface="Roboto" panose="02000000000000000000" pitchFamily="2" charset="0"/>
              </a:rPr>
              <a:t> can watch my records anytime and anywhere”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finding #2</a:t>
            </a: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114300" indent="0" rtl="0">
              <a:spcBef>
                <a:spcPts val="0"/>
              </a:spcBef>
              <a:spcAft>
                <a:spcPts val="0"/>
              </a:spcAft>
              <a:buNone/>
            </a:pPr>
            <a:r>
              <a:rPr lang="en-US" sz="1200" b="0" i="0" u="none" strike="noStrike" dirty="0">
                <a:solidFill>
                  <a:srgbClr val="666666"/>
                </a:solidFill>
                <a:effectLst/>
                <a:latin typeface="Roboto" panose="02000000000000000000" pitchFamily="2" charset="0"/>
              </a:rPr>
              <a:t>The significant  </a:t>
            </a:r>
            <a:r>
              <a:rPr lang="en-US" sz="1200" b="1" i="0" u="none" strike="noStrike" dirty="0">
                <a:solidFill>
                  <a:srgbClr val="666666"/>
                </a:solidFill>
                <a:effectLst/>
                <a:latin typeface="Roboto" panose="02000000000000000000" pitchFamily="2" charset="0"/>
              </a:rPr>
              <a:t>user behaviors</a:t>
            </a:r>
            <a:r>
              <a:rPr lang="en-US" sz="1200" b="0" i="0" u="none" strike="noStrike" dirty="0">
                <a:solidFill>
                  <a:srgbClr val="666666"/>
                </a:solidFill>
                <a:effectLst/>
                <a:latin typeface="Roboto" panose="02000000000000000000" pitchFamily="2" charset="0"/>
              </a:rPr>
              <a:t> found within this study are: </a:t>
            </a:r>
            <a:endParaRPr lang="en-US" sz="1200" i="0" u="none" strike="noStrike" dirty="0">
              <a:solidFill>
                <a:srgbClr val="666666"/>
              </a:solidFill>
              <a:latin typeface="Roboto" panose="02000000000000000000" pitchFamily="2" charset="0"/>
            </a:endParaRPr>
          </a:p>
          <a:p>
            <a:pPr marL="114300" indent="0" rtl="0">
              <a:spcBef>
                <a:spcPts val="0"/>
              </a:spcBef>
              <a:spcAft>
                <a:spcPts val="0"/>
              </a:spcAft>
              <a:buNone/>
            </a:pPr>
            <a:br>
              <a:rPr lang="en-US" sz="1000" b="0" dirty="0">
                <a:effectLst/>
              </a:rPr>
            </a:br>
            <a:r>
              <a:rPr lang="en-US" sz="1000" b="0" i="0" u="none" strike="noStrike" dirty="0">
                <a:solidFill>
                  <a:srgbClr val="666666"/>
                </a:solidFill>
                <a:effectLst/>
                <a:latin typeface="Roboto" panose="02000000000000000000" pitchFamily="2" charset="0"/>
              </a:rPr>
              <a:t>1) more than half the participants have agreed that it is easy to navigate the basis of studying apps </a:t>
            </a:r>
            <a:endParaRPr lang="en-US" sz="1000" b="0" dirty="0">
              <a:effectLst/>
            </a:endParaRPr>
          </a:p>
          <a:p>
            <a:pPr marL="114300"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studying app students enjoy the ability to instantly have the actual experience</a:t>
            </a:r>
          </a:p>
          <a:p>
            <a:pPr marL="114300"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           “I click the app on my phone, and it goes straight to my most recent classroom.”</a:t>
            </a:r>
          </a:p>
          <a:p>
            <a:pPr marL="457200" lvl="1"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“I just open the app and it goes directly to the studying page. It’s super easy.”</a:t>
            </a:r>
          </a:p>
          <a:p>
            <a:pPr marL="114300"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studying app students study: after college, on weekends, on vacations, on waiting moments (dentist office, etc.), break time in school</a:t>
            </a:r>
          </a:p>
          <a:p>
            <a:pPr marL="457200" lvl="1"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“I usually just study on the road. It’s an hour ride, and study it’s when I find the most time.”</a:t>
            </a:r>
          </a:p>
          <a:p>
            <a:pPr marL="457200" lvl="1"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“It depends on the day, but I like studying on the weekends, or when I plan a nice vacation. I’ll finish a curriculum.”</a:t>
            </a:r>
          </a:p>
          <a:p>
            <a:pPr marL="457200" lvl="1"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“I study when I have slow periods in school, or when I have time after school.</a:t>
            </a:r>
          </a:p>
          <a:p>
            <a:pPr marL="114300" indent="0" rtl="0">
              <a:spcBef>
                <a:spcPts val="0"/>
              </a:spcBef>
              <a:spcAft>
                <a:spcPts val="0"/>
              </a:spcAft>
              <a:buNone/>
            </a:pPr>
            <a:br>
              <a:rPr lang="en-US" sz="1000" b="0" dirty="0">
                <a:effectLst/>
              </a:rPr>
            </a:br>
            <a:r>
              <a:rPr lang="en-US" sz="1000" b="0" i="0" u="none" strike="noStrike" dirty="0">
                <a:solidFill>
                  <a:srgbClr val="666666"/>
                </a:solidFill>
                <a:effectLst/>
                <a:latin typeface="Roboto" panose="02000000000000000000" pitchFamily="2" charset="0"/>
              </a:rPr>
              <a:t>2) less than 70% of users are actively in the house, however  </a:t>
            </a:r>
          </a:p>
          <a:p>
            <a:pPr marL="114300"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studying app users would like to have group interactions within a mobile studying community app</a:t>
            </a:r>
          </a:p>
          <a:p>
            <a:pPr marL="114300"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           “I’ve been in a studying community before, however I feel off after college. I enjoyed it while I was using it. I would join again.”</a:t>
            </a:r>
          </a:p>
          <a:p>
            <a:pPr marL="457200" lvl="1"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“I study really good curriculums, but It’s like watching a good movie/show and not being able to discuss it with anyone”</a:t>
            </a:r>
          </a:p>
          <a:p>
            <a:pPr marL="457200" lvl="1" indent="0" rtl="0" fontAlgn="base">
              <a:spcBef>
                <a:spcPts val="0"/>
              </a:spcBef>
              <a:spcAft>
                <a:spcPts val="0"/>
              </a:spcAft>
              <a:buNone/>
            </a:pPr>
            <a:r>
              <a:rPr lang="en-US" sz="1000" b="0" i="0" u="none" strike="noStrike" dirty="0">
                <a:solidFill>
                  <a:srgbClr val="666666"/>
                </a:solidFill>
                <a:effectLst/>
                <a:latin typeface="Roboto" panose="02000000000000000000" pitchFamily="2" charset="0"/>
              </a:rPr>
              <a:t>“I’ve been looking to join/start a studying community! I just haven’t really found a community that wants to study what I like to study”</a:t>
            </a:r>
          </a:p>
          <a:p>
            <a:pPr marL="0" indent="0">
              <a:spcAft>
                <a:spcPts val="1600"/>
              </a:spcAft>
              <a:buNone/>
            </a:pPr>
            <a:endParaRPr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114300" indent="0" rtl="0" fontAlgn="base">
              <a:spcBef>
                <a:spcPts val="0"/>
              </a:spcBef>
              <a:spcAft>
                <a:spcPts val="0"/>
              </a:spcAft>
              <a:buNone/>
            </a:pPr>
            <a:r>
              <a:rPr lang="en-US" sz="2000" b="0" i="0" u="none" strike="noStrike" dirty="0">
                <a:solidFill>
                  <a:srgbClr val="666666"/>
                </a:solidFill>
                <a:effectLst/>
                <a:latin typeface="Roboto" panose="02000000000000000000" pitchFamily="2" charset="0"/>
              </a:rPr>
              <a:t>These findings have helped me re-shape the direction of developing the studying mobile app product. These are the new adjustments as follows:</a:t>
            </a:r>
          </a:p>
          <a:p>
            <a:pPr marL="114300" indent="0" rtl="0" fontAlgn="base">
              <a:spcBef>
                <a:spcPts val="0"/>
              </a:spcBef>
              <a:spcAft>
                <a:spcPts val="0"/>
              </a:spcAft>
              <a:buNone/>
            </a:pPr>
            <a:endParaRPr lang="en-US" sz="1600" b="0" i="0" u="none" strike="noStrike" dirty="0">
              <a:solidFill>
                <a:srgbClr val="666666"/>
              </a:solidFill>
              <a:effectLst/>
              <a:latin typeface="Roboto" panose="02000000000000000000" pitchFamily="2" charset="0"/>
            </a:endParaRPr>
          </a:p>
          <a:p>
            <a:pPr fontAlgn="base"/>
            <a:r>
              <a:rPr lang="en-US" sz="1600" dirty="0"/>
              <a:t>Each studying session should be at least 1h and less than 2h</a:t>
            </a:r>
            <a:endParaRPr lang="en-US" sz="1600" b="0" i="0" u="none" strike="noStrike" dirty="0">
              <a:solidFill>
                <a:srgbClr val="666666"/>
              </a:solidFill>
              <a:effectLst/>
              <a:latin typeface="Roboto" panose="02000000000000000000" pitchFamily="2" charset="0"/>
            </a:endParaRPr>
          </a:p>
          <a:p>
            <a:pPr fontAlgn="base"/>
            <a:r>
              <a:rPr lang="en-US" sz="1600" b="0" i="0" u="none" strike="noStrike" dirty="0">
                <a:solidFill>
                  <a:srgbClr val="666666"/>
                </a:solidFill>
                <a:effectLst/>
                <a:latin typeface="Roboto" panose="02000000000000000000" pitchFamily="2" charset="0"/>
              </a:rPr>
              <a:t>The mobile app </a:t>
            </a:r>
            <a:r>
              <a:rPr lang="en-US" sz="1600" dirty="0"/>
              <a:t>should have built-in</a:t>
            </a:r>
            <a:r>
              <a:rPr lang="en-US" sz="1600" b="0" i="0" u="none" strike="noStrike" dirty="0">
                <a:solidFill>
                  <a:srgbClr val="666666"/>
                </a:solidFill>
                <a:effectLst/>
                <a:latin typeface="Roboto" panose="02000000000000000000" pitchFamily="2" charset="0"/>
              </a:rPr>
              <a:t> record</a:t>
            </a:r>
          </a:p>
          <a:p>
            <a:pPr fontAlgn="base"/>
            <a:r>
              <a:rPr lang="en-US" sz="1600" b="0" i="0" u="none" strike="noStrike" dirty="0">
                <a:solidFill>
                  <a:srgbClr val="666666"/>
                </a:solidFill>
                <a:effectLst/>
                <a:latin typeface="Roboto" panose="02000000000000000000" pitchFamily="2" charset="0"/>
              </a:rPr>
              <a:t>The mobile app will have collaborative study community components (i.e. shared records highlights, shared discussion topics for the end of the finals, shared classroom time schedules, etc.)</a:t>
            </a:r>
          </a:p>
          <a:p>
            <a:pPr fontAlgn="base"/>
            <a:r>
              <a:rPr lang="en-US" sz="1600" b="0" i="0" u="none" strike="noStrike" dirty="0">
                <a:solidFill>
                  <a:srgbClr val="666666"/>
                </a:solidFill>
                <a:effectLst/>
                <a:latin typeface="Roboto" panose="02000000000000000000" pitchFamily="2" charset="0"/>
              </a:rPr>
              <a:t>The mobile app will have a community so the students can study </a:t>
            </a:r>
            <a:r>
              <a:rPr lang="en-US" sz="1600" b="0" i="0" u="none" strike="noStrike" dirty="0" err="1">
                <a:solidFill>
                  <a:srgbClr val="666666"/>
                </a:solidFill>
                <a:effectLst/>
                <a:latin typeface="Roboto" panose="02000000000000000000" pitchFamily="2" charset="0"/>
              </a:rPr>
              <a:t>togather</a:t>
            </a:r>
            <a:endParaRPr dirty="0"/>
          </a:p>
        </p:txBody>
      </p:sp>
      <p:sp>
        <p:nvSpPr>
          <p:cNvPr id="2" name="Rectangle 1">
            <a:extLst>
              <a:ext uri="{FF2B5EF4-FFF2-40B4-BE49-F238E27FC236}">
                <a16:creationId xmlns:a16="http://schemas.microsoft.com/office/drawing/2014/main" id="{4AEB7821-D8A2-4EC7-B05D-19A1A196A372}"/>
              </a:ext>
            </a:extLst>
          </p:cNvPr>
          <p:cNvSpPr/>
          <p:nvPr/>
        </p:nvSpPr>
        <p:spPr>
          <a:xfrm>
            <a:off x="2472070" y="288275"/>
            <a:ext cx="4199860" cy="5727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sz="2000" dirty="0">
                <a:latin typeface="Roboto" panose="02000000000000000000" pitchFamily="2" charset="0"/>
                <a:ea typeface="Roboto" panose="02000000000000000000" pitchFamily="2" charset="0"/>
              </a:rPr>
              <a:t>Recommendation</a:t>
            </a:r>
            <a:r>
              <a:rPr lang="en-US" sz="2000" dirty="0">
                <a:solidFill>
                  <a:srgbClr val="FFFFFF"/>
                </a:solidFill>
                <a:latin typeface="Roboto" panose="02000000000000000000" pitchFamily="2" charset="0"/>
              </a:rPr>
              <a:t>/Next Steps</a:t>
            </a:r>
            <a:endParaRPr lang="en-US" sz="2000" dirty="0">
              <a:latin typeface="Roboto" panose="02000000000000000000" pitchFamily="2" charset="0"/>
              <a:ea typeface="Roboto" panose="020000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Appendix</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2" name="Rectangle 1">
            <a:extLst>
              <a:ext uri="{FF2B5EF4-FFF2-40B4-BE49-F238E27FC236}">
                <a16:creationId xmlns:a16="http://schemas.microsoft.com/office/drawing/2014/main" id="{F63D36E8-A80E-418B-9794-02A555C0381C}"/>
              </a:ext>
            </a:extLst>
          </p:cNvPr>
          <p:cNvSpPr/>
          <p:nvPr/>
        </p:nvSpPr>
        <p:spPr>
          <a:xfrm>
            <a:off x="2307265" y="202018"/>
            <a:ext cx="4210493" cy="5727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sz="2000" dirty="0"/>
              <a:t>Affinity diagram</a:t>
            </a:r>
            <a:endParaRPr lang="en-US" sz="2000" dirty="0"/>
          </a:p>
        </p:txBody>
      </p:sp>
      <p:pic>
        <p:nvPicPr>
          <p:cNvPr id="4" name="Picture 3" descr="Diagram&#10;&#10;Description automatically generated">
            <a:extLst>
              <a:ext uri="{FF2B5EF4-FFF2-40B4-BE49-F238E27FC236}">
                <a16:creationId xmlns:a16="http://schemas.microsoft.com/office/drawing/2014/main" id="{6B501BDE-BE75-49C2-B9CB-FD62E167DCB8}"/>
              </a:ext>
            </a:extLst>
          </p:cNvPr>
          <p:cNvPicPr>
            <a:picLocks noChangeAspect="1"/>
          </p:cNvPicPr>
          <p:nvPr/>
        </p:nvPicPr>
        <p:blipFill>
          <a:blip r:embed="rId3"/>
          <a:stretch>
            <a:fillRect/>
          </a:stretch>
        </p:blipFill>
        <p:spPr>
          <a:xfrm>
            <a:off x="258153" y="889120"/>
            <a:ext cx="8393777" cy="425438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1030</Words>
  <Application>Microsoft Office PowerPoint</Application>
  <PresentationFormat>On-screen Show (16:9)</PresentationFormat>
  <Paragraphs>62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Courier New</vt:lpstr>
      <vt:lpstr>Roboto</vt:lpstr>
      <vt:lpstr>Simple Light</vt:lpstr>
      <vt:lpstr>X User Interactive Studying Application</vt:lpstr>
      <vt:lpstr>Executive Summary</vt:lpstr>
      <vt:lpstr>Research Questions</vt:lpstr>
      <vt:lpstr>Participants</vt:lpstr>
      <vt:lpstr>Key finding #1 </vt:lpstr>
      <vt:lpstr>Key finding #2</vt:lpstr>
      <vt:lpstr>PowerPoint Presentation</vt:lpstr>
      <vt:lpstr>Appendix</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 User Interactive Studying Application</dc:title>
  <cp:lastModifiedBy>يوسف على</cp:lastModifiedBy>
  <cp:revision>10</cp:revision>
  <dcterms:modified xsi:type="dcterms:W3CDTF">2021-12-19T12:33:47Z</dcterms:modified>
</cp:coreProperties>
</file>